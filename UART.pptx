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32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4D1C4-0416-439E-B874-57332E2BBAD2}" v="21" dt="2026-02-18T04:58:16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hi vennapusa" userId="302e7c8c7e7567a6" providerId="LiveId" clId="{9B2BFCF3-BB9D-4917-9B53-4ED52D43BFF8}"/>
    <pc:docChg chg="undo custSel addSld delSld modSld sldOrd">
      <pc:chgData name="sravanthi vennapusa" userId="302e7c8c7e7567a6" providerId="LiveId" clId="{9B2BFCF3-BB9D-4917-9B53-4ED52D43BFF8}" dt="2026-02-18T04:58:16.435" v="121"/>
      <pc:docMkLst>
        <pc:docMk/>
      </pc:docMkLst>
      <pc:sldChg chg="modSp mod">
        <pc:chgData name="sravanthi vennapusa" userId="302e7c8c7e7567a6" providerId="LiveId" clId="{9B2BFCF3-BB9D-4917-9B53-4ED52D43BFF8}" dt="2026-02-11T11:46:18.116" v="46" actId="20577"/>
        <pc:sldMkLst>
          <pc:docMk/>
          <pc:sldMk cId="3754715204" sldId="256"/>
        </pc:sldMkLst>
        <pc:spChg chg="mod">
          <ac:chgData name="sravanthi vennapusa" userId="302e7c8c7e7567a6" providerId="LiveId" clId="{9B2BFCF3-BB9D-4917-9B53-4ED52D43BFF8}" dt="2026-02-11T11:46:04.830" v="3" actId="20577"/>
          <ac:spMkLst>
            <pc:docMk/>
            <pc:sldMk cId="3754715204" sldId="256"/>
            <ac:spMk id="2" creationId="{205B4A4A-5113-CEFD-01C4-76824EC4DD9B}"/>
          </ac:spMkLst>
        </pc:spChg>
        <pc:spChg chg="mod">
          <ac:chgData name="sravanthi vennapusa" userId="302e7c8c7e7567a6" providerId="LiveId" clId="{9B2BFCF3-BB9D-4917-9B53-4ED52D43BFF8}" dt="2026-02-11T11:46:18.116" v="46" actId="20577"/>
          <ac:spMkLst>
            <pc:docMk/>
            <pc:sldMk cId="3754715204" sldId="256"/>
            <ac:spMk id="3" creationId="{426BD751-F3A9-5BB5-5457-20AD5FA6BFDA}"/>
          </ac:spMkLst>
        </pc:spChg>
      </pc:sldChg>
      <pc:sldChg chg="modSp mod">
        <pc:chgData name="sravanthi vennapusa" userId="302e7c8c7e7567a6" providerId="LiveId" clId="{9B2BFCF3-BB9D-4917-9B53-4ED52D43BFF8}" dt="2026-02-13T05:06:34.499" v="88"/>
        <pc:sldMkLst>
          <pc:docMk/>
          <pc:sldMk cId="55235005" sldId="257"/>
        </pc:sldMkLst>
        <pc:spChg chg="mod">
          <ac:chgData name="sravanthi vennapusa" userId="302e7c8c7e7567a6" providerId="LiveId" clId="{9B2BFCF3-BB9D-4917-9B53-4ED52D43BFF8}" dt="2026-02-13T05:06:34.499" v="88"/>
          <ac:spMkLst>
            <pc:docMk/>
            <pc:sldMk cId="55235005" sldId="257"/>
            <ac:spMk id="3" creationId="{027DFFB1-E38D-8A8D-680F-4472DB0EE3F7}"/>
          </ac:spMkLst>
        </pc:spChg>
      </pc:sldChg>
      <pc:sldChg chg="addSp delSp modSp mod">
        <pc:chgData name="sravanthi vennapusa" userId="302e7c8c7e7567a6" providerId="LiveId" clId="{9B2BFCF3-BB9D-4917-9B53-4ED52D43BFF8}" dt="2026-02-18T03:15:27.395" v="104" actId="14100"/>
        <pc:sldMkLst>
          <pc:docMk/>
          <pc:sldMk cId="860090561" sldId="258"/>
        </pc:sldMkLst>
        <pc:spChg chg="mod">
          <ac:chgData name="sravanthi vennapusa" userId="302e7c8c7e7567a6" providerId="LiveId" clId="{9B2BFCF3-BB9D-4917-9B53-4ED52D43BFF8}" dt="2026-02-11T11:48:53.316" v="82" actId="20577"/>
          <ac:spMkLst>
            <pc:docMk/>
            <pc:sldMk cId="860090561" sldId="258"/>
            <ac:spMk id="4" creationId="{45CCABB8-F024-95B9-8F92-82A60AA9F593}"/>
          </ac:spMkLst>
        </pc:spChg>
        <pc:picChg chg="add mod">
          <ac:chgData name="sravanthi vennapusa" userId="302e7c8c7e7567a6" providerId="LiveId" clId="{9B2BFCF3-BB9D-4917-9B53-4ED52D43BFF8}" dt="2026-02-18T03:15:27.395" v="104" actId="14100"/>
          <ac:picMkLst>
            <pc:docMk/>
            <pc:sldMk cId="860090561" sldId="258"/>
            <ac:picMk id="1026" creationId="{95A368B8-1A81-906C-7AF9-1FEA4143A324}"/>
          </ac:picMkLst>
        </pc:picChg>
        <pc:picChg chg="del">
          <ac:chgData name="sravanthi vennapusa" userId="302e7c8c7e7567a6" providerId="LiveId" clId="{9B2BFCF3-BB9D-4917-9B53-4ED52D43BFF8}" dt="2026-02-18T03:15:21.353" v="101" actId="478"/>
          <ac:picMkLst>
            <pc:docMk/>
            <pc:sldMk cId="860090561" sldId="258"/>
            <ac:picMk id="2052" creationId="{FDF6CF10-E923-E6C9-C5A7-CB4A032B45E9}"/>
          </ac:picMkLst>
        </pc:picChg>
      </pc:sldChg>
      <pc:sldChg chg="modSp mod">
        <pc:chgData name="sravanthi vennapusa" userId="302e7c8c7e7567a6" providerId="LiveId" clId="{9B2BFCF3-BB9D-4917-9B53-4ED52D43BFF8}" dt="2026-02-11T11:49:05.929" v="86" actId="20577"/>
        <pc:sldMkLst>
          <pc:docMk/>
          <pc:sldMk cId="1015561862" sldId="260"/>
        </pc:sldMkLst>
        <pc:spChg chg="mod">
          <ac:chgData name="sravanthi vennapusa" userId="302e7c8c7e7567a6" providerId="LiveId" clId="{9B2BFCF3-BB9D-4917-9B53-4ED52D43BFF8}" dt="2026-02-11T11:49:05.929" v="86" actId="20577"/>
          <ac:spMkLst>
            <pc:docMk/>
            <pc:sldMk cId="1015561862" sldId="260"/>
            <ac:spMk id="2" creationId="{6E70B864-4878-B1C3-C738-0AEA70E756B8}"/>
          </ac:spMkLst>
        </pc:spChg>
      </pc:sldChg>
      <pc:sldChg chg="modSp mod">
        <pc:chgData name="sravanthi vennapusa" userId="302e7c8c7e7567a6" providerId="LiveId" clId="{9B2BFCF3-BB9D-4917-9B53-4ED52D43BFF8}" dt="2026-02-18T04:57:47.783" v="113"/>
        <pc:sldMkLst>
          <pc:docMk/>
          <pc:sldMk cId="2807953026" sldId="267"/>
        </pc:sldMkLst>
        <pc:spChg chg="mod">
          <ac:chgData name="sravanthi vennapusa" userId="302e7c8c7e7567a6" providerId="LiveId" clId="{9B2BFCF3-BB9D-4917-9B53-4ED52D43BFF8}" dt="2026-02-18T04:57:47.783" v="113"/>
          <ac:spMkLst>
            <pc:docMk/>
            <pc:sldMk cId="2807953026" sldId="267"/>
            <ac:spMk id="2" creationId="{37494ED1-D232-379E-723D-F75AC45D5132}"/>
          </ac:spMkLst>
        </pc:spChg>
      </pc:sldChg>
      <pc:sldChg chg="modSp mod">
        <pc:chgData name="sravanthi vennapusa" userId="302e7c8c7e7567a6" providerId="LiveId" clId="{9B2BFCF3-BB9D-4917-9B53-4ED52D43BFF8}" dt="2026-02-18T03:52:06.820" v="109" actId="20577"/>
        <pc:sldMkLst>
          <pc:docMk/>
          <pc:sldMk cId="3663048915" sldId="268"/>
        </pc:sldMkLst>
        <pc:spChg chg="mod">
          <ac:chgData name="sravanthi vennapusa" userId="302e7c8c7e7567a6" providerId="LiveId" clId="{9B2BFCF3-BB9D-4917-9B53-4ED52D43BFF8}" dt="2026-02-18T03:52:06.820" v="109" actId="20577"/>
          <ac:spMkLst>
            <pc:docMk/>
            <pc:sldMk cId="3663048915" sldId="268"/>
            <ac:spMk id="2" creationId="{7AB3C795-D6F6-7373-6F72-B8214EF60C28}"/>
          </ac:spMkLst>
        </pc:spChg>
      </pc:sldChg>
      <pc:sldChg chg="modSp mod">
        <pc:chgData name="sravanthi vennapusa" userId="302e7c8c7e7567a6" providerId="LiveId" clId="{9B2BFCF3-BB9D-4917-9B53-4ED52D43BFF8}" dt="2026-02-18T04:57:33.223" v="111"/>
        <pc:sldMkLst>
          <pc:docMk/>
          <pc:sldMk cId="1029589839" sldId="269"/>
        </pc:sldMkLst>
        <pc:spChg chg="mod">
          <ac:chgData name="sravanthi vennapusa" userId="302e7c8c7e7567a6" providerId="LiveId" clId="{9B2BFCF3-BB9D-4917-9B53-4ED52D43BFF8}" dt="2026-02-18T04:57:33.223" v="111"/>
          <ac:spMkLst>
            <pc:docMk/>
            <pc:sldMk cId="1029589839" sldId="269"/>
            <ac:spMk id="2" creationId="{50257E7D-F059-AA58-89B3-D7904510A457}"/>
          </ac:spMkLst>
        </pc:spChg>
      </pc:sldChg>
      <pc:sldChg chg="modSp mod">
        <pc:chgData name="sravanthi vennapusa" userId="302e7c8c7e7567a6" providerId="LiveId" clId="{9B2BFCF3-BB9D-4917-9B53-4ED52D43BFF8}" dt="2026-02-18T04:58:02.213" v="115"/>
        <pc:sldMkLst>
          <pc:docMk/>
          <pc:sldMk cId="2668246880" sldId="271"/>
        </pc:sldMkLst>
        <pc:spChg chg="mod">
          <ac:chgData name="sravanthi vennapusa" userId="302e7c8c7e7567a6" providerId="LiveId" clId="{9B2BFCF3-BB9D-4917-9B53-4ED52D43BFF8}" dt="2026-02-18T04:58:02.213" v="115"/>
          <ac:spMkLst>
            <pc:docMk/>
            <pc:sldMk cId="2668246880" sldId="271"/>
            <ac:spMk id="2" creationId="{05E1CF99-1CDA-7E66-B9DE-4432499E485D}"/>
          </ac:spMkLst>
        </pc:spChg>
      </pc:sldChg>
      <pc:sldChg chg="modSp mod">
        <pc:chgData name="sravanthi vennapusa" userId="302e7c8c7e7567a6" providerId="LiveId" clId="{9B2BFCF3-BB9D-4917-9B53-4ED52D43BFF8}" dt="2026-02-18T04:58:11.899" v="119" actId="6549"/>
        <pc:sldMkLst>
          <pc:docMk/>
          <pc:sldMk cId="3158575651" sldId="272"/>
        </pc:sldMkLst>
        <pc:spChg chg="mod">
          <ac:chgData name="sravanthi vennapusa" userId="302e7c8c7e7567a6" providerId="LiveId" clId="{9B2BFCF3-BB9D-4917-9B53-4ED52D43BFF8}" dt="2026-02-18T04:58:11.899" v="119" actId="6549"/>
          <ac:spMkLst>
            <pc:docMk/>
            <pc:sldMk cId="3158575651" sldId="272"/>
            <ac:spMk id="2" creationId="{F1171C1F-88AA-4347-5A3C-C7C040C081DE}"/>
          </ac:spMkLst>
        </pc:spChg>
      </pc:sldChg>
      <pc:sldChg chg="modSp mod ord">
        <pc:chgData name="sravanthi vennapusa" userId="302e7c8c7e7567a6" providerId="LiveId" clId="{9B2BFCF3-BB9D-4917-9B53-4ED52D43BFF8}" dt="2026-02-18T04:58:16.435" v="121"/>
        <pc:sldMkLst>
          <pc:docMk/>
          <pc:sldMk cId="3466128981" sldId="273"/>
        </pc:sldMkLst>
        <pc:spChg chg="mod">
          <ac:chgData name="sravanthi vennapusa" userId="302e7c8c7e7567a6" providerId="LiveId" clId="{9B2BFCF3-BB9D-4917-9B53-4ED52D43BFF8}" dt="2026-02-18T04:58:16.435" v="121"/>
          <ac:spMkLst>
            <pc:docMk/>
            <pc:sldMk cId="3466128981" sldId="273"/>
            <ac:spMk id="2" creationId="{38A22C8A-4435-AFFE-1842-4324F59D22F5}"/>
          </ac:spMkLst>
        </pc:spChg>
      </pc:sldChg>
      <pc:sldChg chg="del">
        <pc:chgData name="sravanthi vennapusa" userId="302e7c8c7e7567a6" providerId="LiveId" clId="{9B2BFCF3-BB9D-4917-9B53-4ED52D43BFF8}" dt="2026-02-18T03:16:30.336" v="107" actId="47"/>
        <pc:sldMkLst>
          <pc:docMk/>
          <pc:sldMk cId="1260253245" sldId="276"/>
        </pc:sldMkLst>
      </pc:sldChg>
      <pc:sldChg chg="modSp del mod">
        <pc:chgData name="sravanthi vennapusa" userId="302e7c8c7e7567a6" providerId="LiveId" clId="{9B2BFCF3-BB9D-4917-9B53-4ED52D43BFF8}" dt="2026-02-18T03:16:25.449" v="106" actId="47"/>
        <pc:sldMkLst>
          <pc:docMk/>
          <pc:sldMk cId="907433168" sldId="277"/>
        </pc:sldMkLst>
        <pc:spChg chg="mod">
          <ac:chgData name="sravanthi vennapusa" userId="302e7c8c7e7567a6" providerId="LiveId" clId="{9B2BFCF3-BB9D-4917-9B53-4ED52D43BFF8}" dt="2026-02-18T03:16:22.973" v="105" actId="6549"/>
          <ac:spMkLst>
            <pc:docMk/>
            <pc:sldMk cId="907433168" sldId="277"/>
            <ac:spMk id="3" creationId="{45C46F9D-4793-623C-2001-73F46FFB0091}"/>
          </ac:spMkLst>
        </pc:spChg>
      </pc:sldChg>
      <pc:sldChg chg="addSp delSp modSp mod">
        <pc:chgData name="sravanthi vennapusa" userId="302e7c8c7e7567a6" providerId="LiveId" clId="{9B2BFCF3-BB9D-4917-9B53-4ED52D43BFF8}" dt="2026-02-13T05:08:14.090" v="91" actId="14100"/>
        <pc:sldMkLst>
          <pc:docMk/>
          <pc:sldMk cId="2023587523" sldId="278"/>
        </pc:sldMkLst>
        <pc:spChg chg="add mod">
          <ac:chgData name="sravanthi vennapusa" userId="302e7c8c7e7567a6" providerId="LiveId" clId="{9B2BFCF3-BB9D-4917-9B53-4ED52D43BFF8}" dt="2026-02-13T05:08:14.090" v="91" actId="14100"/>
          <ac:spMkLst>
            <pc:docMk/>
            <pc:sldMk cId="2023587523" sldId="278"/>
            <ac:spMk id="4" creationId="{937D66CB-518C-F4F7-D1AB-B383023F8668}"/>
          </ac:spMkLst>
        </pc:spChg>
      </pc:sldChg>
      <pc:sldChg chg="addSp modSp add">
        <pc:chgData name="sravanthi vennapusa" userId="302e7c8c7e7567a6" providerId="LiveId" clId="{9B2BFCF3-BB9D-4917-9B53-4ED52D43BFF8}" dt="2026-02-13T06:07:06.623" v="97" actId="571"/>
        <pc:sldMkLst>
          <pc:docMk/>
          <pc:sldMk cId="3140598066" sldId="328"/>
        </pc:sldMkLst>
        <pc:picChg chg="add mod">
          <ac:chgData name="sravanthi vennapusa" userId="302e7c8c7e7567a6" providerId="LiveId" clId="{9B2BFCF3-BB9D-4917-9B53-4ED52D43BFF8}" dt="2026-02-13T06:06:50.972" v="96" actId="571"/>
          <ac:picMkLst>
            <pc:docMk/>
            <pc:sldMk cId="3140598066" sldId="328"/>
            <ac:picMk id="3" creationId="{A0E90388-837C-AB0E-298E-C7BF32C5426D}"/>
          </ac:picMkLst>
        </pc:picChg>
        <pc:picChg chg="mod">
          <ac:chgData name="sravanthi vennapusa" userId="302e7c8c7e7567a6" providerId="LiveId" clId="{9B2BFCF3-BB9D-4917-9B53-4ED52D43BFF8}" dt="2026-02-13T05:09:24.503" v="94" actId="14100"/>
          <ac:picMkLst>
            <pc:docMk/>
            <pc:sldMk cId="3140598066" sldId="328"/>
            <ac:picMk id="4" creationId="{7ECFFA39-EA56-82BF-8033-38007A3886A5}"/>
          </ac:picMkLst>
        </pc:picChg>
        <pc:picChg chg="add mod">
          <ac:chgData name="sravanthi vennapusa" userId="302e7c8c7e7567a6" providerId="LiveId" clId="{9B2BFCF3-BB9D-4917-9B53-4ED52D43BFF8}" dt="2026-02-13T06:07:06.623" v="97" actId="571"/>
          <ac:picMkLst>
            <pc:docMk/>
            <pc:sldMk cId="3140598066" sldId="328"/>
            <ac:picMk id="5" creationId="{7F234CBB-2070-FC90-FAE3-270D829BE1B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E8918-99EC-43F9-9373-25BDE6EC43A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10568-7E0C-4F8A-A1BC-CE214214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43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010568-7E0C-4F8A-A1BC-CE2142144A2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579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B4A4A-5113-CEFD-01C4-76824EC4D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BD751-F3A9-5BB5-5457-20AD5FA6BF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SRAVANTHI</a:t>
            </a:r>
          </a:p>
          <a:p>
            <a:r>
              <a:rPr lang="en-IN" dirty="0"/>
              <a:t>CHIPWEAVE TECHNOLOGIES PVT LMD</a:t>
            </a:r>
          </a:p>
        </p:txBody>
      </p:sp>
    </p:spTree>
    <p:extLst>
      <p:ext uri="{BB962C8B-B14F-4D97-AF65-F5344CB8AC3E}">
        <p14:creationId xmlns:p14="http://schemas.microsoft.com/office/powerpoint/2010/main" val="3754715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D5EF-388C-C815-A9DE-C9A6C98A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DFFB1-E38D-8A8D-680F-4472DB0EE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554" y="2290233"/>
            <a:ext cx="8825659" cy="3416300"/>
          </a:xfrm>
        </p:spPr>
        <p:txBody>
          <a:bodyPr/>
          <a:lstStyle/>
          <a:p>
            <a:pPr fontAlgn="base"/>
            <a:r>
              <a:rPr lang="en-GB" dirty="0"/>
              <a:t>UART(Universal Asynchronous Receiver/Transmitter)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Used for serial communication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It is two wire communication protocol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One wire for transmission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Second wire for reception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There is no clock for UART</a:t>
            </a:r>
          </a:p>
          <a:p>
            <a:r>
              <a:rPr lang="en-US" dirty="0"/>
              <a:t>Timing is agreed using </a:t>
            </a:r>
            <a:r>
              <a:rPr lang="en-US" b="1" dirty="0"/>
              <a:t>baud rate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/>
              <a:t>start</a:t>
            </a:r>
            <a:r>
              <a:rPr lang="en-US" dirty="0"/>
              <a:t> and </a:t>
            </a:r>
            <a:r>
              <a:rPr lang="en-US" b="1" dirty="0"/>
              <a:t>stop</a:t>
            </a:r>
            <a:r>
              <a:rPr lang="en-US" dirty="0"/>
              <a:t> bits for synchronization</a:t>
            </a:r>
          </a:p>
          <a:p>
            <a:pPr fontAlgn="base"/>
            <a:endParaRPr lang="en-US" dirty="0"/>
          </a:p>
        </p:txBody>
      </p:sp>
      <p:pic>
        <p:nvPicPr>
          <p:cNvPr id="1026" name="Picture 2" descr="Basics of UART Communication">
            <a:extLst>
              <a:ext uri="{FF2B5EF4-FFF2-40B4-BE49-F238E27FC236}">
                <a16:creationId xmlns:a16="http://schemas.microsoft.com/office/drawing/2014/main" id="{E743ED60-ED87-BA41-D078-65584FDC4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105" y="3429000"/>
            <a:ext cx="30575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35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99F6-3C97-708F-8A5A-2C37D9FB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410513" cy="706964"/>
          </a:xfrm>
        </p:spPr>
        <p:txBody>
          <a:bodyPr/>
          <a:lstStyle/>
          <a:p>
            <a:r>
              <a:rPr lang="en-GB" b="1" dirty="0"/>
              <a:t>UART Communication – Frame Structure</a:t>
            </a:r>
            <a:r>
              <a:rPr lang="en-GB" dirty="0"/>
              <a:t>​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CABB8-F024-95B9-8F92-82A60AA9F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/>
              <a:t>Data is transferred bit-by-bit using a predefined frame format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A UART frame consists of: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r>
              <a:rPr lang="en-GB" b="1" dirty="0"/>
              <a:t>       Start Bit</a:t>
            </a:r>
          </a:p>
          <a:p>
            <a:pPr marL="0" indent="0" fontAlgn="base">
              <a:buNone/>
            </a:pPr>
            <a:r>
              <a:rPr lang="en-GB" b="1" dirty="0"/>
              <a:t>      Data Bits (5–9 bits, typically 8)</a:t>
            </a:r>
            <a:r>
              <a:rPr lang="en-GB" dirty="0"/>
              <a:t>​</a:t>
            </a:r>
          </a:p>
          <a:p>
            <a:pPr marL="0" indent="0" fontAlgn="base">
              <a:buNone/>
            </a:pPr>
            <a:r>
              <a:rPr lang="en-GB" b="1" dirty="0"/>
              <a:t>      Parity Bit (Optional)</a:t>
            </a:r>
            <a:r>
              <a:rPr lang="en-GB" dirty="0"/>
              <a:t>​</a:t>
            </a:r>
          </a:p>
          <a:p>
            <a:pPr marL="0" indent="0" fontAlgn="base">
              <a:buNone/>
            </a:pPr>
            <a:r>
              <a:rPr lang="en-GB" b="1" dirty="0"/>
              <a:t>      Stop Bit</a:t>
            </a:r>
            <a:r>
              <a:rPr lang="en-GB" dirty="0"/>
              <a:t>​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UART Explained | Dev Center">
            <a:extLst>
              <a:ext uri="{FF2B5EF4-FFF2-40B4-BE49-F238E27FC236}">
                <a16:creationId xmlns:a16="http://schemas.microsoft.com/office/drawing/2014/main" id="{95A368B8-1A81-906C-7AF9-1FEA4143A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3429000"/>
            <a:ext cx="5977467" cy="248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09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B585-11FA-0A56-8B6E-7DDF03A2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7D66CB-518C-F4F7-D1AB-B383023F86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9200" y="2689420"/>
            <a:ext cx="876141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UART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asynchronous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a shared clock.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full-duplex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transfer using TX and RX 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framing is configurable (start bit, data bits, parity, stop bits).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speed is set by a programmable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baud 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basic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parity and framing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UART is simple, low-cost, and widely used in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202358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566C5-C0D5-2961-065A-2761E90A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Registers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2A203C7-D91E-D6E0-1589-DC9F7A096E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7058823"/>
              </p:ext>
            </p:extLst>
          </p:nvPr>
        </p:nvGraphicFramePr>
        <p:xfrm>
          <a:off x="177800" y="2421467"/>
          <a:ext cx="11810999" cy="4599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169">
                  <a:extLst>
                    <a:ext uri="{9D8B030D-6E8A-4147-A177-3AD203B41FA5}">
                      <a16:colId xmlns:a16="http://schemas.microsoft.com/office/drawing/2014/main" val="652386971"/>
                    </a:ext>
                  </a:extLst>
                </a:gridCol>
                <a:gridCol w="2080833">
                  <a:extLst>
                    <a:ext uri="{9D8B030D-6E8A-4147-A177-3AD203B41FA5}">
                      <a16:colId xmlns:a16="http://schemas.microsoft.com/office/drawing/2014/main" val="3040908384"/>
                    </a:ext>
                  </a:extLst>
                </a:gridCol>
                <a:gridCol w="1886364">
                  <a:extLst>
                    <a:ext uri="{9D8B030D-6E8A-4147-A177-3AD203B41FA5}">
                      <a16:colId xmlns:a16="http://schemas.microsoft.com/office/drawing/2014/main" val="4234550890"/>
                    </a:ext>
                  </a:extLst>
                </a:gridCol>
                <a:gridCol w="4508633">
                  <a:extLst>
                    <a:ext uri="{9D8B030D-6E8A-4147-A177-3AD203B41FA5}">
                      <a16:colId xmlns:a16="http://schemas.microsoft.com/office/drawing/2014/main" val="1013146545"/>
                    </a:ext>
                  </a:extLst>
                </a:gridCol>
              </a:tblGrid>
              <a:tr h="371777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Width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293874"/>
                  </a:ext>
                </a:extLst>
              </a:tr>
              <a:tr h="371973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Receiver Buffer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Receiver FIFO output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049933"/>
                  </a:ext>
                </a:extLst>
              </a:tr>
              <a:tr h="66124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Transmitter Holding Register (THR)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Transmit FIFO input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142315"/>
                  </a:ext>
                </a:extLst>
              </a:tr>
              <a:tr h="66157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Interrupt Enable Register (IER)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Enable/Mask interrupts generated by the UART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412835"/>
                  </a:ext>
                </a:extLst>
              </a:tr>
              <a:tr h="661579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Interrupt Identification Register (IIR)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Provides interrupt source information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95113"/>
                  </a:ext>
                </a:extLst>
              </a:tr>
              <a:tr h="46024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FIFO Control Register (FCR)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Controls FIFO options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21595"/>
                  </a:ext>
                </a:extLst>
              </a:tr>
              <a:tr h="95051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 Control Register (LCR)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Controls line configuration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91179"/>
                  </a:ext>
                </a:extLst>
              </a:tr>
              <a:tr h="46024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Modem Control Register (MCR)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Controls modem signals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134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18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B864-4878-B1C3-C738-0AEA70E7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7D6F41-5C00-FE55-F883-183A814F3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4661746"/>
              </p:ext>
            </p:extLst>
          </p:nvPr>
        </p:nvGraphicFramePr>
        <p:xfrm>
          <a:off x="1155700" y="2603500"/>
          <a:ext cx="8824912" cy="1641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228">
                  <a:extLst>
                    <a:ext uri="{9D8B030D-6E8A-4147-A177-3AD203B41FA5}">
                      <a16:colId xmlns:a16="http://schemas.microsoft.com/office/drawing/2014/main" val="427885036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3743109328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2335315484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517469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Width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44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 Status Register (LSR)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Provides line status information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472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Modem Status Register (MSR)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Modem Status Register (MSR)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84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56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0FD7-0BEC-1609-F78D-0261076D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Interrupt Enable Register (IER)​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FA8B-78EB-28EF-2557-3214E68E4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register enables or disables interrupt generation by the UART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43DAB6-C2C0-FCEC-8906-BBB81D9FF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053278"/>
              </p:ext>
            </p:extLst>
          </p:nvPr>
        </p:nvGraphicFramePr>
        <p:xfrm>
          <a:off x="1498822" y="3081867"/>
          <a:ext cx="9626378" cy="3285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875">
                  <a:extLst>
                    <a:ext uri="{9D8B030D-6E8A-4147-A177-3AD203B41FA5}">
                      <a16:colId xmlns:a16="http://schemas.microsoft.com/office/drawing/2014/main" val="1179639911"/>
                    </a:ext>
                  </a:extLst>
                </a:gridCol>
                <a:gridCol w="2346875">
                  <a:extLst>
                    <a:ext uri="{9D8B030D-6E8A-4147-A177-3AD203B41FA5}">
                      <a16:colId xmlns:a16="http://schemas.microsoft.com/office/drawing/2014/main" val="2898165965"/>
                    </a:ext>
                  </a:extLst>
                </a:gridCol>
                <a:gridCol w="4714561">
                  <a:extLst>
                    <a:ext uri="{9D8B030D-6E8A-4147-A177-3AD203B41FA5}">
                      <a16:colId xmlns:a16="http://schemas.microsoft.com/office/drawing/2014/main" val="3597236717"/>
                    </a:ext>
                  </a:extLst>
                </a:gridCol>
                <a:gridCol w="218067">
                  <a:extLst>
                    <a:ext uri="{9D8B030D-6E8A-4147-A177-3AD203B41FA5}">
                      <a16:colId xmlns:a16="http://schemas.microsoft.com/office/drawing/2014/main" val="2392763840"/>
                    </a:ext>
                  </a:extLst>
                </a:gridCol>
              </a:tblGrid>
              <a:tr h="43815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#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1315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Received Data Available Interrupt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= Disabled,1 = Enabled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366827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Transmitter Holding Register Empty Interrupt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= Disabled,1 = Enabled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481551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Receiver Line Status Interrupt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= Disabled,1 = Enabled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919060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Receiver Line Status Interrupt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= Disabled,1 = Enabled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4163"/>
                  </a:ext>
                </a:extLst>
              </a:tr>
              <a:tr h="56938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7-4​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Reserved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(Must be written as logic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19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8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3379-7940-D537-A69F-7F1370D15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Interrupt Identification Register(IIR)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F00CB-BA0A-FBEA-271A-2C59745C6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IIR enables the programmer to retrieve what is the current highest priority pending interrupt.</a:t>
            </a:r>
            <a:r>
              <a:rPr lang="en-US" dirty="0"/>
              <a:t>​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B5818B-0EBD-449E-60D5-5DD20AD63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347295"/>
              </p:ext>
            </p:extLst>
          </p:nvPr>
        </p:nvGraphicFramePr>
        <p:xfrm>
          <a:off x="838200" y="3335868"/>
          <a:ext cx="10998201" cy="3396645"/>
        </p:xfrm>
        <a:graphic>
          <a:graphicData uri="http://schemas.openxmlformats.org/drawingml/2006/table">
            <a:tbl>
              <a:tblPr/>
              <a:tblGrid>
                <a:gridCol w="713508">
                  <a:extLst>
                    <a:ext uri="{9D8B030D-6E8A-4147-A177-3AD203B41FA5}">
                      <a16:colId xmlns:a16="http://schemas.microsoft.com/office/drawing/2014/main" val="2060494147"/>
                    </a:ext>
                  </a:extLst>
                </a:gridCol>
                <a:gridCol w="701815">
                  <a:extLst>
                    <a:ext uri="{9D8B030D-6E8A-4147-A177-3AD203B41FA5}">
                      <a16:colId xmlns:a16="http://schemas.microsoft.com/office/drawing/2014/main" val="1279618663"/>
                    </a:ext>
                  </a:extLst>
                </a:gridCol>
                <a:gridCol w="643329">
                  <a:extLst>
                    <a:ext uri="{9D8B030D-6E8A-4147-A177-3AD203B41FA5}">
                      <a16:colId xmlns:a16="http://schemas.microsoft.com/office/drawing/2014/main" val="3859431327"/>
                    </a:ext>
                  </a:extLst>
                </a:gridCol>
                <a:gridCol w="1076121">
                  <a:extLst>
                    <a:ext uri="{9D8B030D-6E8A-4147-A177-3AD203B41FA5}">
                      <a16:colId xmlns:a16="http://schemas.microsoft.com/office/drawing/2014/main" val="1493545408"/>
                    </a:ext>
                  </a:extLst>
                </a:gridCol>
                <a:gridCol w="2130197">
                  <a:extLst>
                    <a:ext uri="{9D8B030D-6E8A-4147-A177-3AD203B41FA5}">
                      <a16:colId xmlns:a16="http://schemas.microsoft.com/office/drawing/2014/main" val="2943728439"/>
                    </a:ext>
                  </a:extLst>
                </a:gridCol>
                <a:gridCol w="3353928">
                  <a:extLst>
                    <a:ext uri="{9D8B030D-6E8A-4147-A177-3AD203B41FA5}">
                      <a16:colId xmlns:a16="http://schemas.microsoft.com/office/drawing/2014/main" val="932529190"/>
                    </a:ext>
                  </a:extLst>
                </a:gridCol>
                <a:gridCol w="2379303">
                  <a:extLst>
                    <a:ext uri="{9D8B030D-6E8A-4147-A177-3AD203B41FA5}">
                      <a16:colId xmlns:a16="http://schemas.microsoft.com/office/drawing/2014/main" val="1747602602"/>
                    </a:ext>
                  </a:extLst>
                </a:gridCol>
              </a:tblGrid>
              <a:tr h="45810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3​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2​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1​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Priority​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Interrupt Type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Interrupt Source 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Interrupt Reset Control </a:t>
                      </a:r>
                      <a:r>
                        <a:rPr lang="en-US" sz="1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598811"/>
                  </a:ext>
                </a:extLst>
              </a:tr>
              <a:tr h="45822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1st​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Receiver Line Status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Parity, Overrun or Framing errors or Break Interrupt 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Reading the Line Status Register 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51726"/>
                  </a:ext>
                </a:extLst>
              </a:tr>
              <a:tr h="25802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2nd​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Receiver Data available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FIFO trigger level reached 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FIFO drops below trigger level 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632840"/>
                  </a:ext>
                </a:extLst>
              </a:tr>
              <a:tr h="85861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3rd​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Timeout Indication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 FIFO has data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new data received or read for 4 character times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Reading from the FIFO (Receiver Buffer Register)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274618"/>
                  </a:ext>
                </a:extLst>
              </a:tr>
              <a:tr h="65841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4th​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Transmitter Holding Register empty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Transmitter Holding Register Empty 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Writing to the Transmitter Holding Register or reading IIR. 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392616"/>
                  </a:ext>
                </a:extLst>
              </a:tr>
              <a:tr h="45822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5th​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Modem Status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CTS, DSR, RI or DCD.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Reading the Modem status register.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0998" marR="70998" marT="35499" marB="35499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009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095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877E9-B062-B2F4-29FD-A112FF1E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FIFO Control Register (FCR)​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5677E-858D-754E-77E2-A03980638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06688"/>
            <a:ext cx="10935446" cy="3813112"/>
          </a:xfrm>
        </p:spPr>
        <p:txBody>
          <a:bodyPr/>
          <a:lstStyle/>
          <a:p>
            <a:pPr fontAlgn="base"/>
            <a:r>
              <a:rPr lang="en-GB" dirty="0"/>
              <a:t>The FCR allows selection of the FIFO trigger level (the number of bytes in FIFO required to enable the Received Data Available interrupt).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F395B3-BCB7-C420-603F-D55B58D1E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558138"/>
              </p:ext>
            </p:extLst>
          </p:nvPr>
        </p:nvGraphicFramePr>
        <p:xfrm>
          <a:off x="0" y="2891246"/>
          <a:ext cx="12296504" cy="4128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667">
                  <a:extLst>
                    <a:ext uri="{9D8B030D-6E8A-4147-A177-3AD203B41FA5}">
                      <a16:colId xmlns:a16="http://schemas.microsoft.com/office/drawing/2014/main" val="1998348475"/>
                    </a:ext>
                  </a:extLst>
                </a:gridCol>
                <a:gridCol w="1473019">
                  <a:extLst>
                    <a:ext uri="{9D8B030D-6E8A-4147-A177-3AD203B41FA5}">
                      <a16:colId xmlns:a16="http://schemas.microsoft.com/office/drawing/2014/main" val="1037347613"/>
                    </a:ext>
                  </a:extLst>
                </a:gridCol>
                <a:gridCol w="8991818">
                  <a:extLst>
                    <a:ext uri="{9D8B030D-6E8A-4147-A177-3AD203B41FA5}">
                      <a16:colId xmlns:a16="http://schemas.microsoft.com/office/drawing/2014/main" val="1268216633"/>
                    </a:ext>
                  </a:extLst>
                </a:gridCol>
              </a:tblGrid>
              <a:tr h="33725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 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 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309595"/>
                  </a:ext>
                </a:extLst>
              </a:tr>
              <a:tr h="57123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Ignored (Used to enable FIFOs in NS16550D). Since this UART only supports FIFO mode, this bit is ignored.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838472"/>
                  </a:ext>
                </a:extLst>
              </a:tr>
              <a:tr h="10390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Clears Receiver FIFO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Writing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→ clears RX FIFO and resets its internal logic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Shift register not cleared, i.e., the byte currently being received continues normally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30520"/>
                  </a:ext>
                </a:extLst>
              </a:tr>
              <a:tr h="127256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Clears Transmitter FIFO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Writing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→ clears TX FIFO and resets its logic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Shift register not cleared, so the byte currently being transmitted continues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962569"/>
                  </a:ext>
                </a:extLst>
              </a:tr>
              <a:tr h="33746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5-3​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Ignored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005788"/>
                  </a:ext>
                </a:extLst>
              </a:tr>
              <a:tr h="57123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7-6​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Define the Receiver FIFO Interrupt trigger level ‘00’ – 1 byte ‘01’ – 4 bytes ‘10’ – 8 bytes ‘11’ – 14 bytes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030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425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C0375-8AD0-BA92-472E-00D7A237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 Control Register (LCR)​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4764-B5CD-77AD-3748-428758D8F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12113" cy="3416300"/>
          </a:xfrm>
        </p:spPr>
        <p:txBody>
          <a:bodyPr/>
          <a:lstStyle/>
          <a:p>
            <a:pPr fontAlgn="base"/>
            <a:r>
              <a:rPr lang="en-GB" dirty="0"/>
              <a:t>The line control register allows the specification of the format of the asynchronous data communication used.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AB6065-167D-C34C-2A8A-1562C50C9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288047"/>
              </p:ext>
            </p:extLst>
          </p:nvPr>
        </p:nvGraphicFramePr>
        <p:xfrm>
          <a:off x="956733" y="3236658"/>
          <a:ext cx="9220200" cy="3621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424">
                  <a:extLst>
                    <a:ext uri="{9D8B030D-6E8A-4147-A177-3AD203B41FA5}">
                      <a16:colId xmlns:a16="http://schemas.microsoft.com/office/drawing/2014/main" val="3531146068"/>
                    </a:ext>
                  </a:extLst>
                </a:gridCol>
                <a:gridCol w="1034630">
                  <a:extLst>
                    <a:ext uri="{9D8B030D-6E8A-4147-A177-3AD203B41FA5}">
                      <a16:colId xmlns:a16="http://schemas.microsoft.com/office/drawing/2014/main" val="1228842226"/>
                    </a:ext>
                  </a:extLst>
                </a:gridCol>
                <a:gridCol w="6632146">
                  <a:extLst>
                    <a:ext uri="{9D8B030D-6E8A-4147-A177-3AD203B41FA5}">
                      <a16:colId xmlns:a16="http://schemas.microsoft.com/office/drawing/2014/main" val="925699156"/>
                    </a:ext>
                  </a:extLst>
                </a:gridCol>
              </a:tblGrid>
              <a:tr h="46941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 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23263"/>
                  </a:ext>
                </a:extLst>
              </a:tr>
              <a:tr h="4695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 number of bits in each character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‘00’ – 5 bits, ‘01’ – 6 bits, ‘10’ – 7 bits ‘11’ – 8 bits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70450"/>
                  </a:ext>
                </a:extLst>
              </a:tr>
              <a:tr h="104611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Specify the number of generated stop bits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'0' - 1 stop bit​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'1' - 1.5 stop bits (only if 5-bit data)​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'1' - 2 stop bits (for 6/7/8-bit data)​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531887"/>
                  </a:ext>
                </a:extLst>
              </a:tr>
              <a:tr h="123829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Parity Enable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‘0’ – No parity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‘1’ – Parity bit If enabled: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Transmitter adds parity bit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Receiver checks parity bit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34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1439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94ED1-D232-379E-723D-F75AC45D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 Control Register (LCR)​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8563F2-C191-E6F7-2D11-50546DFFE0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284387"/>
              </p:ext>
            </p:extLst>
          </p:nvPr>
        </p:nvGraphicFramePr>
        <p:xfrm>
          <a:off x="867833" y="1993900"/>
          <a:ext cx="10223501" cy="4757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116">
                  <a:extLst>
                    <a:ext uri="{9D8B030D-6E8A-4147-A177-3AD203B41FA5}">
                      <a16:colId xmlns:a16="http://schemas.microsoft.com/office/drawing/2014/main" val="1590799209"/>
                    </a:ext>
                  </a:extLst>
                </a:gridCol>
                <a:gridCol w="1461463">
                  <a:extLst>
                    <a:ext uri="{9D8B030D-6E8A-4147-A177-3AD203B41FA5}">
                      <a16:colId xmlns:a16="http://schemas.microsoft.com/office/drawing/2014/main" val="4076514205"/>
                    </a:ext>
                  </a:extLst>
                </a:gridCol>
                <a:gridCol w="8050922">
                  <a:extLst>
                    <a:ext uri="{9D8B030D-6E8A-4147-A177-3AD203B41FA5}">
                      <a16:colId xmlns:a16="http://schemas.microsoft.com/office/drawing/2014/main" val="3926566835"/>
                    </a:ext>
                  </a:extLst>
                </a:gridCol>
              </a:tblGrid>
              <a:tr h="43120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713093"/>
                  </a:ext>
                </a:extLst>
              </a:tr>
              <a:tr h="78443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Even Parity Select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Selects odd or even parity (only valid if parity enabled).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'0' - Odd parity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'1' - Even parity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137338"/>
                  </a:ext>
                </a:extLst>
              </a:tr>
              <a:tr h="784431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Stick Parity​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Forces parity bit to a fixed value.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‘0’ – Stick Parity disabled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‘1’ - Stick parity enabled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688333"/>
                  </a:ext>
                </a:extLst>
              </a:tr>
              <a:tr h="96096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Break Control​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Forces TX line to logic 0 continuously.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'0' - Normal operation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'1' - TX line forced LOW (Break condition)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278439"/>
                  </a:ext>
                </a:extLst>
              </a:tr>
              <a:tr h="214237"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Divisor Latch Access bit.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rtl="0" fontAlgn="base"/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‘1’ – The divisor latches can be accessed 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rtl="0" fontAlgn="base"/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‘0’ – The normal registers are accessed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l" rtl="0" fontAlgn="auto">
                        <a:lnSpc>
                          <a:spcPts val="1650"/>
                        </a:lnSpc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182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95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C795-D6F6-7373-6F72-B8214EF6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Modem Control Register (MCR)​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7064-B97A-CCC3-6450-E75330978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/>
              <a:t>Modem Control Register (MCR) controls handshaking signals between UART and a modem 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6976E6-A8A1-FB2D-034B-35F76FEA6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970958"/>
              </p:ext>
            </p:extLst>
          </p:nvPr>
        </p:nvGraphicFramePr>
        <p:xfrm>
          <a:off x="431800" y="3268132"/>
          <a:ext cx="10303932" cy="3509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079">
                  <a:extLst>
                    <a:ext uri="{9D8B030D-6E8A-4147-A177-3AD203B41FA5}">
                      <a16:colId xmlns:a16="http://schemas.microsoft.com/office/drawing/2014/main" val="3539794483"/>
                    </a:ext>
                  </a:extLst>
                </a:gridCol>
                <a:gridCol w="1195390">
                  <a:extLst>
                    <a:ext uri="{9D8B030D-6E8A-4147-A177-3AD203B41FA5}">
                      <a16:colId xmlns:a16="http://schemas.microsoft.com/office/drawing/2014/main" val="939542659"/>
                    </a:ext>
                  </a:extLst>
                </a:gridCol>
                <a:gridCol w="8241463">
                  <a:extLst>
                    <a:ext uri="{9D8B030D-6E8A-4147-A177-3AD203B41FA5}">
                      <a16:colId xmlns:a16="http://schemas.microsoft.com/office/drawing/2014/main" val="37594347"/>
                    </a:ext>
                  </a:extLst>
                </a:gridCol>
              </a:tblGrid>
              <a:tr h="66345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# 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741569"/>
                  </a:ext>
                </a:extLst>
              </a:tr>
              <a:tr h="93531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DTR (Data Terminal Ready) Control Signal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DTR output =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(UART is ready)​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DTR output =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47012"/>
                  </a:ext>
                </a:extLst>
              </a:tr>
              <a:tr h="93531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RTS (Request To Send) control signal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RTS output =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1(UART asks Modem) 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RTS output =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284191"/>
                  </a:ext>
                </a:extLst>
              </a:tr>
              <a:tr h="66369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Out1. In loopback mode, connected Ring Indicator (RI) signal input.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998090"/>
                  </a:ext>
                </a:extLst>
              </a:tr>
              <a:tr h="12537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Out2. In loopback mode, connected to Data Carrier Detect (DCD) input.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19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04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7E7D-F059-AA58-89B3-D7904510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Modem Control Register (MCR)​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D87EA8-294E-00F0-EFBA-7AAA168410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390630"/>
              </p:ext>
            </p:extLst>
          </p:nvPr>
        </p:nvGraphicFramePr>
        <p:xfrm>
          <a:off x="1155700" y="2603500"/>
          <a:ext cx="8824911" cy="3368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767">
                  <a:extLst>
                    <a:ext uri="{9D8B030D-6E8A-4147-A177-3AD203B41FA5}">
                      <a16:colId xmlns:a16="http://schemas.microsoft.com/office/drawing/2014/main" val="27270132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025486602"/>
                    </a:ext>
                  </a:extLst>
                </a:gridCol>
                <a:gridCol w="5628744">
                  <a:extLst>
                    <a:ext uri="{9D8B030D-6E8A-4147-A177-3AD203B41FA5}">
                      <a16:colId xmlns:a16="http://schemas.microsoft.com/office/drawing/2014/main" val="1940597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94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Loopback mode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‘0’ – normal operation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‘1’ – loopback mode. When in loopback mode, UART tests itself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external modem needed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Transmitter output internally connected to receiver input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The following connections are made: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DTR 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-&gt; 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DSR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RTS -&gt; CTS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Out1 -&gt;RI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Out2 -&gt; DCD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9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7-5​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Ignored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08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9589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C065-881C-3BF7-8268-989BEA5E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Line Status Register (LSR)</a:t>
            </a:r>
            <a:r>
              <a:rPr lang="en-GB" dirty="0"/>
              <a:t> 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8B1BE-7AD3-0FAE-08B2-1D225C7A5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273300"/>
            <a:ext cx="8825659" cy="3416300"/>
          </a:xfrm>
        </p:spPr>
        <p:txBody>
          <a:bodyPr/>
          <a:lstStyle/>
          <a:p>
            <a:r>
              <a:rPr lang="en-GB" dirty="0"/>
              <a:t>Line Status Register (LSR) tells the current status of UART transmission and reception:</a:t>
            </a:r>
            <a:r>
              <a:rPr lang="en-US" dirty="0"/>
              <a:t>​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04E3D7-47E3-7379-3640-AF318D8A5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611304"/>
              </p:ext>
            </p:extLst>
          </p:nvPr>
        </p:nvGraphicFramePr>
        <p:xfrm>
          <a:off x="1938866" y="2971799"/>
          <a:ext cx="8127999" cy="3464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2933">
                  <a:extLst>
                    <a:ext uri="{9D8B030D-6E8A-4147-A177-3AD203B41FA5}">
                      <a16:colId xmlns:a16="http://schemas.microsoft.com/office/drawing/2014/main" val="260534907"/>
                    </a:ext>
                  </a:extLst>
                </a:gridCol>
                <a:gridCol w="1684867">
                  <a:extLst>
                    <a:ext uri="{9D8B030D-6E8A-4147-A177-3AD203B41FA5}">
                      <a16:colId xmlns:a16="http://schemas.microsoft.com/office/drawing/2014/main" val="3803109952"/>
                    </a:ext>
                  </a:extLst>
                </a:gridCol>
                <a:gridCol w="5410199">
                  <a:extLst>
                    <a:ext uri="{9D8B030D-6E8A-4147-A177-3AD203B41FA5}">
                      <a16:colId xmlns:a16="http://schemas.microsoft.com/office/drawing/2014/main" val="1418903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815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 (Data Ready)​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Indicates received data availability.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data in RX FIFO​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least one byte is available in RX FIFO​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99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OE (Overrun Error)​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 FIFO overflow detection.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FIFO full and new data arrived → data loss​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overrun​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91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 (Parity Error)​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Parity check error detection.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Parity error in received character​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parity error​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609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423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CF99-1CDA-7E66-B9DE-4432499E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Line Status Register (LSR)</a:t>
            </a:r>
            <a:r>
              <a:rPr lang="en-GB" dirty="0"/>
              <a:t> ​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5E11B0-B66D-1B9B-DC80-6C1A81550C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5036584"/>
              </p:ext>
            </p:extLst>
          </p:nvPr>
        </p:nvGraphicFramePr>
        <p:xfrm>
          <a:off x="211667" y="2269067"/>
          <a:ext cx="11700932" cy="4750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634">
                  <a:extLst>
                    <a:ext uri="{9D8B030D-6E8A-4147-A177-3AD203B41FA5}">
                      <a16:colId xmlns:a16="http://schemas.microsoft.com/office/drawing/2014/main" val="1713181934"/>
                    </a:ext>
                  </a:extLst>
                </a:gridCol>
                <a:gridCol w="1953313">
                  <a:extLst>
                    <a:ext uri="{9D8B030D-6E8A-4147-A177-3AD203B41FA5}">
                      <a16:colId xmlns:a16="http://schemas.microsoft.com/office/drawing/2014/main" val="3871665873"/>
                    </a:ext>
                  </a:extLst>
                </a:gridCol>
                <a:gridCol w="8001985">
                  <a:extLst>
                    <a:ext uri="{9D8B030D-6E8A-4147-A177-3AD203B41FA5}">
                      <a16:colId xmlns:a16="http://schemas.microsoft.com/office/drawing/2014/main" val="274275093"/>
                    </a:ext>
                  </a:extLst>
                </a:gridCol>
              </a:tblGrid>
              <a:tr h="291117">
                <a:tc>
                  <a:txBody>
                    <a:bodyPr/>
                    <a:lstStyle/>
                    <a:p>
                      <a:r>
                        <a:rPr lang="en-IN" dirty="0"/>
                        <a:t>          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202685"/>
                  </a:ext>
                </a:extLst>
              </a:tr>
              <a:tr h="76342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 (Framing Error)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Stop-bit error detection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 bit is invalid or missing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 bit correct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56857"/>
                  </a:ext>
                </a:extLst>
              </a:tr>
              <a:tr h="76357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 (Break Interrupt)​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Detects long LOW condition on RX line.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 held LOW longer than one frame​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break condition​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178311"/>
                  </a:ext>
                </a:extLst>
              </a:tr>
              <a:tr h="76357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Transmit FIFO is empty.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 FIFO status.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 FIFO empty​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 FIFO has data​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320271"/>
                  </a:ext>
                </a:extLst>
              </a:tr>
              <a:tr h="59173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Transmitter Empty indicator.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 FIFO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shift register empty​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Transmission still in progress​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840660"/>
                  </a:ext>
                </a:extLst>
              </a:tr>
              <a:tr h="76357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Error in FIFO ,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Error summary bit.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least one error in RX FIFO(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Parity error, Framing error ,Break error)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errors​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7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246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1C1F-88AA-4347-5A3C-C7C040C0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GB" b="1" dirty="0"/>
              <a:t>Modem Status Register (MSR)</a:t>
            </a:r>
            <a:r>
              <a:rPr lang="en-GB" dirty="0"/>
              <a:t> </a:t>
            </a:r>
            <a:r>
              <a:rPr lang="en-US" dirty="0"/>
              <a:t>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ED4BA-1EB9-56F0-07D6-2E0D2D061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/>
              <a:t>Current state of modem control lines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Whether those signals have changed since the last read​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DF8DE4-358E-C6D3-9EC2-4BB86EB4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576356"/>
              </p:ext>
            </p:extLst>
          </p:nvPr>
        </p:nvGraphicFramePr>
        <p:xfrm>
          <a:off x="1803400" y="3393186"/>
          <a:ext cx="8382000" cy="3439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80">
                  <a:extLst>
                    <a:ext uri="{9D8B030D-6E8A-4147-A177-3AD203B41FA5}">
                      <a16:colId xmlns:a16="http://schemas.microsoft.com/office/drawing/2014/main" val="3213525864"/>
                    </a:ext>
                  </a:extLst>
                </a:gridCol>
                <a:gridCol w="1286173">
                  <a:extLst>
                    <a:ext uri="{9D8B030D-6E8A-4147-A177-3AD203B41FA5}">
                      <a16:colId xmlns:a16="http://schemas.microsoft.com/office/drawing/2014/main" val="4197031923"/>
                    </a:ext>
                  </a:extLst>
                </a:gridCol>
                <a:gridCol w="5914647">
                  <a:extLst>
                    <a:ext uri="{9D8B030D-6E8A-4147-A177-3AD203B41FA5}">
                      <a16:colId xmlns:a16="http://schemas.microsoft.com/office/drawing/2014/main" val="1205345052"/>
                    </a:ext>
                  </a:extLst>
                </a:gridCol>
              </a:tblGrid>
              <a:tr h="34546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Bit 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00952"/>
                  </a:ext>
                </a:extLst>
              </a:tr>
              <a:tr h="89371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DCTS (Delta Clear To Send)​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Detects change in CTS signal.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CTS line changed (0→1 or 1→0)​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change​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727008"/>
                  </a:ext>
                </a:extLst>
              </a:tr>
              <a:tr h="89371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DDSR (Delta Data Set Ready)​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Detects change in DSR signal.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DSR line changed​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change​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7136"/>
                  </a:ext>
                </a:extLst>
              </a:tr>
              <a:tr h="109484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TERI (Trailing Edge Ring Indicator)​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Detects falling edge of RI signal.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 changed from HIGH → LOW​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falling edge​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458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575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2C8A-4435-AFFE-1842-4324F59D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Modem Status Register (MSR)</a:t>
            </a:r>
            <a:r>
              <a:rPr lang="en-GB" dirty="0"/>
              <a:t> </a:t>
            </a:r>
            <a:r>
              <a:rPr lang="en-US" dirty="0"/>
              <a:t>​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C9A7C3-B95B-6BAC-D460-B217AA7771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139705"/>
              </p:ext>
            </p:extLst>
          </p:nvPr>
        </p:nvGraphicFramePr>
        <p:xfrm>
          <a:off x="1155699" y="2603500"/>
          <a:ext cx="8504766" cy="344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280">
                  <a:extLst>
                    <a:ext uri="{9D8B030D-6E8A-4147-A177-3AD203B41FA5}">
                      <a16:colId xmlns:a16="http://schemas.microsoft.com/office/drawing/2014/main" val="3846167917"/>
                    </a:ext>
                  </a:extLst>
                </a:gridCol>
                <a:gridCol w="1790714">
                  <a:extLst>
                    <a:ext uri="{9D8B030D-6E8A-4147-A177-3AD203B41FA5}">
                      <a16:colId xmlns:a16="http://schemas.microsoft.com/office/drawing/2014/main" val="2594133037"/>
                    </a:ext>
                  </a:extLst>
                </a:gridCol>
                <a:gridCol w="4995772">
                  <a:extLst>
                    <a:ext uri="{9D8B030D-6E8A-4147-A177-3AD203B41FA5}">
                      <a16:colId xmlns:a16="http://schemas.microsoft.com/office/drawing/2014/main" val="1263701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  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868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DDCD (Delta Data Carrier Detect)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Detects change in DCD signal.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'1'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DCD line changed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'0' -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change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70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Complement of the CTS input or equals to RTS in loopback mode.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48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Complement of the DSR input or equals to DTR in loopback mode.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533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Complement of the RI input or equals to Out1 in loopback mode.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74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Complement of the DCD input or equals to Out2 in loopback mode. 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286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128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32E5F-8749-BC6E-E72A-5E3CF934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UART vs SPI vs I2C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9F5C0D-F96F-8C88-1ADC-874C95C133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102234"/>
              </p:ext>
            </p:extLst>
          </p:nvPr>
        </p:nvGraphicFramePr>
        <p:xfrm>
          <a:off x="1907020" y="2592746"/>
          <a:ext cx="7322272" cy="3437808"/>
        </p:xfrm>
        <a:graphic>
          <a:graphicData uri="http://schemas.openxmlformats.org/drawingml/2006/table">
            <a:tbl>
              <a:tblPr/>
              <a:tblGrid>
                <a:gridCol w="1830568">
                  <a:extLst>
                    <a:ext uri="{9D8B030D-6E8A-4147-A177-3AD203B41FA5}">
                      <a16:colId xmlns:a16="http://schemas.microsoft.com/office/drawing/2014/main" val="469978565"/>
                    </a:ext>
                  </a:extLst>
                </a:gridCol>
                <a:gridCol w="1830568">
                  <a:extLst>
                    <a:ext uri="{9D8B030D-6E8A-4147-A177-3AD203B41FA5}">
                      <a16:colId xmlns:a16="http://schemas.microsoft.com/office/drawing/2014/main" val="2948532859"/>
                    </a:ext>
                  </a:extLst>
                </a:gridCol>
                <a:gridCol w="1830568">
                  <a:extLst>
                    <a:ext uri="{9D8B030D-6E8A-4147-A177-3AD203B41FA5}">
                      <a16:colId xmlns:a16="http://schemas.microsoft.com/office/drawing/2014/main" val="396450637"/>
                    </a:ext>
                  </a:extLst>
                </a:gridCol>
                <a:gridCol w="1830568">
                  <a:extLst>
                    <a:ext uri="{9D8B030D-6E8A-4147-A177-3AD203B41FA5}">
                      <a16:colId xmlns:a16="http://schemas.microsoft.com/office/drawing/2014/main" val="1222368699"/>
                    </a:ext>
                  </a:extLst>
                </a:gridCol>
              </a:tblGrid>
              <a:tr h="48804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parameter​</a:t>
                      </a:r>
                      <a:endParaRPr lang="en-US" sz="15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UART​</a:t>
                      </a:r>
                      <a:endParaRPr lang="en-US" sz="15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SPI​</a:t>
                      </a:r>
                      <a:endParaRPr lang="en-US" sz="15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I2C​</a:t>
                      </a:r>
                      <a:endParaRPr lang="en-US" sz="15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782825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clock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5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(Asynchronous)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synchronous​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synchronous​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143523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wires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57570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speed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1-2mbps​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10-100mbps​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3.4mbps​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155122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Addressing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Limited(cs)​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634286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communication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Point –to-point​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Master-slave​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Master-slave​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277851"/>
                  </a:ext>
                </a:extLst>
              </a:tr>
              <a:tr h="48804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 case</a:t>
                      </a: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Gps</a:t>
                      </a:r>
                      <a:r>
                        <a:rPr lang="en-US" sz="15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module </a:t>
                      </a:r>
                      <a:r>
                        <a:rPr lang="en-US" sz="1500" b="0" i="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bluetooth</a:t>
                      </a:r>
                      <a:r>
                        <a:rPr lang="en-US" sz="15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n-US" sz="15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displays​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5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sensors​</a:t>
                      </a:r>
                      <a:endParaRPr lang="en-US" sz="15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751" marR="77751" marT="38875" marB="38875">
                    <a:lnL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818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818" cap="flat" cmpd="sng" algn="ctr">
                      <a:solidFill>
                        <a:srgbClr val="99C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707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386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93A3-2D76-9FE3-82BE-5A795B11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7ECFFA39-EA56-82BF-8033-38007A388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245"/>
            <a:ext cx="11848704" cy="591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Business Thank-You Letter Examples">
            <a:extLst>
              <a:ext uri="{FF2B5EF4-FFF2-40B4-BE49-F238E27FC236}">
                <a16:creationId xmlns:a16="http://schemas.microsoft.com/office/drawing/2014/main" id="{A0E90388-837C-AB0E-298E-C7BF32C54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0512"/>
            <a:ext cx="11848704" cy="591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Business Thank-You Letter Examples">
            <a:extLst>
              <a:ext uri="{FF2B5EF4-FFF2-40B4-BE49-F238E27FC236}">
                <a16:creationId xmlns:a16="http://schemas.microsoft.com/office/drawing/2014/main" id="{7F234CBB-2070-FC90-FAE3-270D829BE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246"/>
            <a:ext cx="11848704" cy="591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980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{5119D6F7-8300-4A42-AC6D-6E18C3E4D879}TF229edf6a-8a49-49ee-a0a6-5037052947485fb3ca0c-bc27bf41d645</Template>
  <TotalTime>251</TotalTime>
  <Words>1998</Words>
  <Application>Microsoft Office PowerPoint</Application>
  <PresentationFormat>Widescreen</PresentationFormat>
  <Paragraphs>404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Century Gothic</vt:lpstr>
      <vt:lpstr>Consolas</vt:lpstr>
      <vt:lpstr>Wingdings 3</vt:lpstr>
      <vt:lpstr>Ion Boardroom</vt:lpstr>
      <vt:lpstr>UART</vt:lpstr>
      <vt:lpstr>              Introduction</vt:lpstr>
      <vt:lpstr>UART Communication – Frame Structure​</vt:lpstr>
      <vt:lpstr>                Features</vt:lpstr>
      <vt:lpstr>                 Registers</vt:lpstr>
      <vt:lpstr>    </vt:lpstr>
      <vt:lpstr>Interrupt Enable Register (IER)​</vt:lpstr>
      <vt:lpstr>Interrupt Identification Register(IIR)</vt:lpstr>
      <vt:lpstr>FIFO Control Register (FCR)​</vt:lpstr>
      <vt:lpstr>Line Control Register (LCR)​</vt:lpstr>
      <vt:lpstr>Line Control Register (LCR)​</vt:lpstr>
      <vt:lpstr>Modem Control Register (MCR)​</vt:lpstr>
      <vt:lpstr>Modem Control Register (MCR)​</vt:lpstr>
      <vt:lpstr>Line Status Register (LSR) ​</vt:lpstr>
      <vt:lpstr>Line Status Register (LSR) ​</vt:lpstr>
      <vt:lpstr>Modem Status Register (MSR) ​</vt:lpstr>
      <vt:lpstr>Modem Status Register (MSR) ​</vt:lpstr>
      <vt:lpstr>            UART vs SPI vs I2C</vt:lpstr>
      <vt:lpstr>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1</cp:revision>
  <dcterms:created xsi:type="dcterms:W3CDTF">2026-02-11T10:22:21Z</dcterms:created>
  <dcterms:modified xsi:type="dcterms:W3CDTF">2026-02-18T04:58:18Z</dcterms:modified>
</cp:coreProperties>
</file>